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DM Sans Thin"/>
      <p:regular r:id="rId201314"/>
    </p:embeddedFont>
    <p:embeddedFont>
      <p:font typeface="DM Sans ExtraLight"/>
      <p:regular r:id="rId201315"/>
    </p:embeddedFont>
    <p:embeddedFont>
      <p:font typeface="DM Sans Light"/>
      <p:regular r:id="rId201316"/>
    </p:embeddedFont>
    <p:embeddedFont>
      <p:font typeface="DM Sans"/>
      <p:regular r:id="rId201317"/>
    </p:embeddedFont>
    <p:embeddedFont>
      <p:font typeface="DM Sans Medium"/>
      <p:regular r:id="rId201318"/>
    </p:embeddedFont>
    <p:embeddedFont>
      <p:font typeface="DM Sans SemiBold"/>
      <p:regular r:id="rId201319"/>
    </p:embeddedFont>
    <p:embeddedFont>
      <p:font typeface="DM Sans Bold"/>
      <p:regular r:id="rId201320"/>
    </p:embeddedFont>
    <p:embeddedFont>
      <p:font typeface="DM Sans ExtraBold"/>
      <p:regular r:id="rId201321"/>
    </p:embeddedFont>
    <p:embeddedFont>
      <p:font typeface="DM Sans Black"/>
      <p:regular r:id="rId201322"/>
    </p:embeddedFont>
    <p:embeddedFont>
      <p:font typeface="Libre Baskerville"/>
      <p:regular r:id="rId201323"/>
    </p:embeddedFont>
    <p:embeddedFont>
      <p:font typeface="Libre Baskerville Bold"/>
      <p:regular r:id="rId2013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2.png"/><Relationship Id="rId5" Type="http://schemas.openxmlformats.org/officeDocument/2006/relationships/image" Target="../media/image-6-3.svg"/><Relationship Id="rId6" Type="http://schemas.openxmlformats.org/officeDocument/2006/relationships/image" Target="../media/image-6-2.png"/><Relationship Id="rId7" Type="http://schemas.openxmlformats.org/officeDocument/2006/relationships/image" Target="../media/image-6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909018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3007593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3,900 transactions · 18 features · 4 product categories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7355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at a Glance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770906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3,900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496119" y="2415853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Transactions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660553" y="1770906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18</a:t>
            </a:r>
            <a:endParaRPr lang="en-US" sz="3650" dirty="0"/>
          </a:p>
        </p:txBody>
      </p:sp>
      <p:sp>
        <p:nvSpPr>
          <p:cNvPr id="6" name="Text 4"/>
          <p:cNvSpPr/>
          <p:nvPr/>
        </p:nvSpPr>
        <p:spPr>
          <a:xfrm>
            <a:off x="4660553" y="2415853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96119" y="2991669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37</a:t>
            </a:r>
            <a:endParaRPr lang="en-US" sz="3650" dirty="0"/>
          </a:p>
        </p:txBody>
      </p:sp>
      <p:sp>
        <p:nvSpPr>
          <p:cNvPr id="8" name="Text 6"/>
          <p:cNvSpPr/>
          <p:nvPr/>
        </p:nvSpPr>
        <p:spPr>
          <a:xfrm>
            <a:off x="496119" y="3636615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Values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96119" y="3943127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Review Rating column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0553" y="2991669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3650" dirty="0"/>
          </a:p>
        </p:txBody>
      </p:sp>
      <p:sp>
        <p:nvSpPr>
          <p:cNvPr id="11" name="Text 9"/>
          <p:cNvSpPr/>
          <p:nvPr/>
        </p:nvSpPr>
        <p:spPr>
          <a:xfrm>
            <a:off x="4660553" y="3636615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Categories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60553" y="3943127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Clothing, Accessories, Footwear, Outerwear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23714"/>
            <a:ext cx="4722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Python: Data Preparation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3925119" y="1065833"/>
            <a:ext cx="4722763" cy="810444"/>
          </a:xfrm>
          <a:prstGeom prst="roundRect">
            <a:avLst>
              <a:gd name="adj" fmla="val 7232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069407" y="1210121"/>
            <a:ext cx="4434185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Clean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069407" y="1510531"/>
            <a:ext cx="443418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Imputed missing Review Ratings by category median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925119" y="2013645"/>
            <a:ext cx="4722763" cy="810444"/>
          </a:xfrm>
          <a:prstGeom prst="roundRect">
            <a:avLst>
              <a:gd name="adj" fmla="val 7232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69407" y="2157933"/>
            <a:ext cx="4434185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Standardize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069407" y="2458343"/>
            <a:ext cx="443418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Renamed columns to snake_case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925119" y="2961456"/>
            <a:ext cx="4722763" cy="810444"/>
          </a:xfrm>
          <a:prstGeom prst="roundRect">
            <a:avLst>
              <a:gd name="adj" fmla="val 7232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69407" y="3105745"/>
            <a:ext cx="4434185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Engineer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069407" y="3406155"/>
            <a:ext cx="443418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Created age_group &amp; purchase_frequency_days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925119" y="3909268"/>
            <a:ext cx="4722763" cy="810444"/>
          </a:xfrm>
          <a:prstGeom prst="roundRect">
            <a:avLst>
              <a:gd name="adj" fmla="val 7232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69407" y="4053557"/>
            <a:ext cx="4434185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Load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069407" y="4353967"/>
            <a:ext cx="443418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Exported cleaned data to PostgreSQL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Gender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Finding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807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 customers generated 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2.1× more revenue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than female customers.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$157,890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· Female: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$75,191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Subscribers vs. Non-Subscribers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Insight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1034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Non-subscribers drive 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73%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of revenue despite similar average spend.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27%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of customers are subscribed — a major growth opportunity.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65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Products &amp; Discount Patterns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190997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5 by Review Rating</a:t>
            </a:r>
            <a:endParaRPr lang="en-US" sz="1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71923"/>
            <a:ext cx="3902943" cy="28093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49701" y="1190997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Most Discounted Products</a:t>
            </a:r>
            <a:endParaRPr lang="en-US" sz="13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49701" y="1571923"/>
            <a:ext cx="3902943" cy="9116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86710" y="1732731"/>
            <a:ext cx="350512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Hat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986710" y="2095946"/>
            <a:ext cx="350512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50% discount rate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49701" y="2625328"/>
            <a:ext cx="3902943" cy="9116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86710" y="2786137"/>
            <a:ext cx="350512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Sneakers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986710" y="3149352"/>
            <a:ext cx="350512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49.66% discount rate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49701" y="3678734"/>
            <a:ext cx="3902943" cy="91164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86710" y="3839542"/>
            <a:ext cx="350512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Coat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986710" y="4202757"/>
            <a:ext cx="350512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49.07% discount rate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115764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Segmentation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1771352"/>
            <a:ext cx="4722763" cy="1643211"/>
          </a:xfrm>
          <a:prstGeom prst="roundRect">
            <a:avLst>
              <a:gd name="adj" fmla="val 3624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929881" y="1776115"/>
            <a:ext cx="2356619" cy="816843"/>
          </a:xfrm>
          <a:prstGeom prst="rect">
            <a:avLst/>
          </a:prstGeom>
          <a:solidFill>
            <a:srgbClr val="F7EDD4"/>
          </a:solidFill>
          <a:ln/>
        </p:spPr>
      </p:sp>
      <p:sp>
        <p:nvSpPr>
          <p:cNvPr id="6" name="Text 3"/>
          <p:cNvSpPr/>
          <p:nvPr/>
        </p:nvSpPr>
        <p:spPr>
          <a:xfrm>
            <a:off x="4071640" y="1917874"/>
            <a:ext cx="207310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071640" y="2224385"/>
            <a:ext cx="207310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3,116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customers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286500" y="1776115"/>
            <a:ext cx="2356619" cy="816843"/>
          </a:xfrm>
          <a:prstGeom prst="rect">
            <a:avLst/>
          </a:prstGeom>
          <a:solidFill>
            <a:srgbClr val="F7EDD4"/>
          </a:solidFill>
          <a:ln/>
        </p:spPr>
      </p:sp>
      <p:sp>
        <p:nvSpPr>
          <p:cNvPr id="9" name="Shape 6"/>
          <p:cNvSpPr/>
          <p:nvPr/>
        </p:nvSpPr>
        <p:spPr>
          <a:xfrm>
            <a:off x="6286500" y="1776115"/>
            <a:ext cx="19050" cy="816843"/>
          </a:xfrm>
          <a:prstGeom prst="roundRect">
            <a:avLst>
              <a:gd name="adj" fmla="val 312558"/>
            </a:avLst>
          </a:prstGeom>
          <a:solidFill>
            <a:srgbClr val="DDD3BA"/>
          </a:solidFill>
          <a:ln/>
        </p:spPr>
      </p:sp>
      <p:sp>
        <p:nvSpPr>
          <p:cNvPr id="10" name="Text 7"/>
          <p:cNvSpPr/>
          <p:nvPr/>
        </p:nvSpPr>
        <p:spPr>
          <a:xfrm>
            <a:off x="6428259" y="1917874"/>
            <a:ext cx="207310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Returning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428259" y="2224385"/>
            <a:ext cx="207310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701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customers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929881" y="2592958"/>
            <a:ext cx="4713238" cy="816843"/>
          </a:xfrm>
          <a:prstGeom prst="rect">
            <a:avLst/>
          </a:prstGeom>
          <a:solidFill>
            <a:srgbClr val="F7EDD4"/>
          </a:solidFill>
          <a:ln/>
        </p:spPr>
      </p:sp>
      <p:sp>
        <p:nvSpPr>
          <p:cNvPr id="13" name="Shape 10"/>
          <p:cNvSpPr/>
          <p:nvPr/>
        </p:nvSpPr>
        <p:spPr>
          <a:xfrm>
            <a:off x="3929881" y="2592958"/>
            <a:ext cx="4713238" cy="19050"/>
          </a:xfrm>
          <a:prstGeom prst="roundRect">
            <a:avLst>
              <a:gd name="adj" fmla="val 312558"/>
            </a:avLst>
          </a:prstGeom>
          <a:solidFill>
            <a:srgbClr val="DDD3BA"/>
          </a:solidFill>
          <a:ln/>
        </p:spPr>
      </p:sp>
      <p:sp>
        <p:nvSpPr>
          <p:cNvPr id="14" name="Text 11"/>
          <p:cNvSpPr/>
          <p:nvPr/>
        </p:nvSpPr>
        <p:spPr>
          <a:xfrm>
            <a:off x="4071640" y="2734717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New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071640" y="3041228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83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customers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925119" y="3574033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839 customers used discounts while spending above average. 958 repeat buyers (5+ purchases) hold subscriptions.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Age Group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Takeaway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807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Young Adults lead in revenue contribution, but spend is relatively 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even across all age groups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Express shipping averages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$60.48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vs. Standard at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$58.46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3920"/>
            <a:ext cx="815176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Power BI Dashboard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18034"/>
            <a:ext cx="5181377" cy="29360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17270" y="1165547"/>
            <a:ext cx="2635300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Metrics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6017270" y="1529730"/>
            <a:ext cx="2635300" cy="527224"/>
          </a:xfrm>
          <a:prstGeom prst="roundRect">
            <a:avLst>
              <a:gd name="adj" fmla="val 10941"/>
            </a:avLst>
          </a:prstGeom>
          <a:solidFill>
            <a:srgbClr val="FFFDFA"/>
          </a:solidFill>
          <a:ln w="19050">
            <a:solidFill>
              <a:srgbClr val="DDD3B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73614" y="1686074"/>
            <a:ext cx="2322612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3.9K Customers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017270" y="2189931"/>
            <a:ext cx="2635300" cy="527224"/>
          </a:xfrm>
          <a:prstGeom prst="roundRect">
            <a:avLst>
              <a:gd name="adj" fmla="val 10941"/>
            </a:avLst>
          </a:prstGeom>
          <a:solidFill>
            <a:srgbClr val="FFFDFA"/>
          </a:solidFill>
          <a:ln w="19050">
            <a:solidFill>
              <a:srgbClr val="DDD3B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73614" y="2346275"/>
            <a:ext cx="2322612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$59.76 Avg Purchase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017270" y="2850133"/>
            <a:ext cx="2635300" cy="527224"/>
          </a:xfrm>
          <a:prstGeom prst="roundRect">
            <a:avLst>
              <a:gd name="adj" fmla="val 10941"/>
            </a:avLst>
          </a:prstGeom>
          <a:solidFill>
            <a:srgbClr val="FFFDFA"/>
          </a:solidFill>
          <a:ln w="19050">
            <a:solidFill>
              <a:srgbClr val="DDD3B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73614" y="3006477"/>
            <a:ext cx="2322612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3.75 Avg Rating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017270" y="3510335"/>
            <a:ext cx="2635300" cy="527224"/>
          </a:xfrm>
          <a:prstGeom prst="roundRect">
            <a:avLst>
              <a:gd name="adj" fmla="val 10941"/>
            </a:avLst>
          </a:prstGeom>
          <a:solidFill>
            <a:srgbClr val="FFFDFA"/>
          </a:solidFill>
          <a:ln w="19050">
            <a:solidFill>
              <a:srgbClr val="DDD3B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73614" y="3666679"/>
            <a:ext cx="2322612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27% Subscribers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017270" y="4187205"/>
            <a:ext cx="2635300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Interactive filters: Gender, Category, Shipping Type, Age Group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3316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Business Recommendations</a:t>
            </a:r>
            <a:endParaRPr lang="en-US" sz="2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531739"/>
            <a:ext cx="283518" cy="28351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56816" y="1580406"/>
            <a:ext cx="42620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956816" y="1886917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subscriber benefits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397249"/>
            <a:ext cx="283518" cy="28351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56816" y="2445916"/>
            <a:ext cx="42620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956816" y="2752427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toward "Loyal" segment</a:t>
            </a:r>
            <a:endParaRPr lang="en-US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262759"/>
            <a:ext cx="283518" cy="28351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56816" y="3311426"/>
            <a:ext cx="42620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Review Discount Policy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956816" y="3617937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Balance sales lift with margin control</a:t>
            </a:r>
            <a:endParaRPr lang="en-US" sz="11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6119" y="4128269"/>
            <a:ext cx="283518" cy="28351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56816" y="4176936"/>
            <a:ext cx="42620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956816" y="4483447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age groups &amp; express-shipping users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2026-07-26T18:43:40Z</dcterms:created>
  <dcterms:modified xsi:type="dcterms:W3CDTF">2026-07-26T18:43:40Z</dcterms:modified>
</cp:coreProperties>
</file>